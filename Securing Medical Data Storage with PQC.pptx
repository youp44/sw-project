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E024C-75EB-49A4-92BE-506A35CB1534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689C0-0BB4-48D6-8BBA-70D6F3FF71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777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600" dirty="0"/>
                  <a:t>Problem</a:t>
                </a:r>
              </a:p>
              <a:p>
                <a:pPr lvl="1"/>
                <a:r>
                  <a:rPr lang="en-US" sz="1600" dirty="0"/>
                  <a:t>Ring-LWE relies heavily on </a:t>
                </a:r>
                <a:r>
                  <a:rPr lang="en-US" sz="1600" b="1" dirty="0"/>
                  <a:t>polynomial multiplication</a:t>
                </a:r>
              </a:p>
              <a:p>
                <a:pPr lvl="1"/>
                <a:r>
                  <a:rPr lang="en-US" sz="1600" dirty="0"/>
                  <a:t>Each encryption and decryption requires multiple multiplications</a:t>
                </a:r>
              </a:p>
              <a:p>
                <a:pPr lvl="1"/>
                <a:r>
                  <a:rPr lang="en-US" sz="1600" b="1" dirty="0"/>
                  <a:t>Time complexity:</a:t>
                </a:r>
                <a:r>
                  <a:rPr lang="en-US" sz="1600" dirty="0"/>
                  <a:t> 0(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1600" dirty="0"/>
                      <m:t>)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Runtime increases </a:t>
                </a:r>
                <a:r>
                  <a:rPr lang="en-US" sz="1600" b="1" dirty="0" err="1"/>
                  <a:t>quadratically</a:t>
                </a:r>
                <a:r>
                  <a:rPr lang="en-US" sz="1600" dirty="0"/>
                  <a:t> with polynomial size</a:t>
                </a:r>
              </a:p>
              <a:p>
                <a:pPr lvl="1"/>
                <a:r>
                  <a:rPr lang="en-US" sz="1600" dirty="0"/>
                  <a:t>Becomes impractical for </a:t>
                </a:r>
                <a:r>
                  <a:rPr lang="en-US" sz="1600" b="1" dirty="0"/>
                  <a:t>realistic post-quantum security parameters</a:t>
                </a:r>
                <a:endParaRPr lang="en-US" sz="1600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600" dirty="0"/>
                  <a:t>Problem</a:t>
                </a:r>
              </a:p>
              <a:p>
                <a:pPr lvl="1"/>
                <a:r>
                  <a:rPr lang="en-US" sz="1600" dirty="0"/>
                  <a:t>Ring-LWE relies heavily on </a:t>
                </a:r>
                <a:r>
                  <a:rPr lang="en-US" sz="1600" b="1" dirty="0"/>
                  <a:t>polynomial multiplication</a:t>
                </a:r>
              </a:p>
              <a:p>
                <a:pPr lvl="1"/>
                <a:r>
                  <a:rPr lang="en-US" sz="1600" dirty="0"/>
                  <a:t>Each encryption and decryption requires multiple multiplications</a:t>
                </a:r>
              </a:p>
              <a:p>
                <a:pPr lvl="1"/>
                <a:r>
                  <a:rPr lang="en-US" sz="1600" b="1" dirty="0"/>
                  <a:t>Time complexity:</a:t>
                </a:r>
                <a:r>
                  <a:rPr lang="en-US" sz="1600" dirty="0"/>
                  <a:t> 0(</a:t>
                </a:r>
                <a:r>
                  <a:rPr lang="en-US" sz="1600" b="0" i="0">
                    <a:latin typeface="Cambria Math" panose="02040503050406030204" pitchFamily="18" charset="0"/>
                  </a:rPr>
                  <a:t>𝑛^</a:t>
                </a:r>
                <a:r>
                  <a:rPr lang="en-US" sz="1600" i="0">
                    <a:latin typeface="Cambria Math" panose="02040503050406030204" pitchFamily="18" charset="0"/>
                  </a:rPr>
                  <a:t>2</a:t>
                </a:r>
                <a:r>
                  <a:rPr lang="en-US" sz="1600" i="0" dirty="0">
                    <a:latin typeface="Cambria Math" panose="02040503050406030204" pitchFamily="18" charset="0"/>
                  </a:rPr>
                  <a:t> ")</a:t>
                </a:r>
                <a:r>
                  <a:rPr lang="nl-NL" sz="1600" i="0" dirty="0"/>
                  <a:t>"</a:t>
                </a:r>
                <a:endParaRPr lang="en-US" sz="1600" dirty="0"/>
              </a:p>
              <a:p>
                <a:pPr lvl="1"/>
                <a:r>
                  <a:rPr lang="en-US" sz="1600" dirty="0"/>
                  <a:t>Runtime increases </a:t>
                </a:r>
                <a:r>
                  <a:rPr lang="en-US" sz="1600" b="1" dirty="0" err="1"/>
                  <a:t>quadratically</a:t>
                </a:r>
                <a:r>
                  <a:rPr lang="en-US" sz="1600" dirty="0"/>
                  <a:t> with polynomial size</a:t>
                </a:r>
              </a:p>
              <a:p>
                <a:pPr lvl="1"/>
                <a:r>
                  <a:rPr lang="en-US" sz="1600" dirty="0"/>
                  <a:t>Becomes impractical for </a:t>
                </a:r>
                <a:r>
                  <a:rPr lang="en-US" sz="1600" b="1" dirty="0"/>
                  <a:t>realistic post-quantum security parameters</a:t>
                </a:r>
                <a:endParaRPr lang="en-US" sz="1600" dirty="0"/>
              </a:p>
              <a:p>
                <a:endParaRPr lang="nl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689C0-0BB4-48D6-8BBA-70D6F3FF714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579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Securing Medical Data Storage with PQC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Stefan-Nikola &amp; </a:t>
            </a:r>
            <a:r>
              <a:rPr lang="en-GB" dirty="0" err="1"/>
              <a:t>Youp</a:t>
            </a:r>
            <a:r>
              <a:rPr lang="en-GB" dirty="0"/>
              <a:t> </a:t>
            </a:r>
            <a:r>
              <a:rPr lang="en-GB" dirty="0" err="1"/>
              <a:t>Klijnman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22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249487"/>
            <a:ext cx="4369926" cy="3541714"/>
          </a:xfrm>
        </p:spPr>
        <p:txBody>
          <a:bodyPr>
            <a:normAutofit/>
          </a:bodyPr>
          <a:lstStyle/>
          <a:p>
            <a:r>
              <a:rPr lang="en-US" sz="1600" b="1" dirty="0"/>
              <a:t>Sensitive Data</a:t>
            </a:r>
          </a:p>
          <a:p>
            <a:r>
              <a:rPr lang="en-US" sz="1600" b="1" dirty="0"/>
              <a:t>RSA and ECC - future quantum attacks</a:t>
            </a:r>
          </a:p>
          <a:p>
            <a:r>
              <a:rPr lang="en-US" sz="1600" b="1" dirty="0"/>
              <a:t>store-now, decrypt-later risk</a:t>
            </a:r>
          </a:p>
          <a:p>
            <a:r>
              <a:rPr lang="en-US" sz="1600" b="1" dirty="0"/>
              <a:t>PQC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3936" y="5446804"/>
            <a:ext cx="244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Maxima Medical </a:t>
            </a:r>
            <a:r>
              <a:rPr lang="en-GB" dirty="0" err="1"/>
              <a:t>Center</a:t>
            </a:r>
            <a:endParaRPr lang="en-US" dirty="0"/>
          </a:p>
        </p:txBody>
      </p:sp>
      <p:pic>
        <p:nvPicPr>
          <p:cNvPr id="5" name="Picture 2" descr="Vijfjarig bestaan van het Prinses Máxima Centrum | KiKa">
            <a:extLst>
              <a:ext uri="{FF2B5EF4-FFF2-40B4-BE49-F238E27FC236}">
                <a16:creationId xmlns:a16="http://schemas.microsoft.com/office/drawing/2014/main" id="{7BA6F401-5D13-86B3-1707-56A02D5C8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677" y="1415781"/>
            <a:ext cx="6042801" cy="40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21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Ring-lwe algorithm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1141412" y="2249487"/>
                <a:ext cx="4459287" cy="39650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1700"/>
                  <a:t>What is Ring-LWE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1700"/>
                  <a:t>Lattice-based cryptographic construction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1700"/>
                  <a:t>Secure against normal and quantum attacks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1700"/>
                  <a:t>Operates over </a:t>
                </a:r>
                <a:r>
                  <a:rPr lang="en-US" sz="1700" b="1"/>
                  <a:t>polynomial rings</a:t>
                </a:r>
                <a:r>
                  <a:rPr lang="en-US" sz="1700"/>
                  <a:t> instead of matrices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+ 1</m:t>
                            </m:r>
                          </m:e>
                        </m:d>
                      </m:den>
                    </m:f>
                  </m:oMath>
                </a14:m>
                <a:endParaRPr lang="en-US" sz="1700"/>
              </a:p>
              <a:p>
                <a:pPr lvl="1">
                  <a:lnSpc>
                    <a:spcPct val="110000"/>
                  </a:lnSpc>
                </a:pPr>
                <a:r>
                  <a:rPr lang="en-US" sz="1700"/>
                  <a:t>Cryptographic keys and messages are represented as </a:t>
                </a:r>
                <a:r>
                  <a:rPr lang="en-US" sz="1700" b="1"/>
                  <a:t>polynomials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1700"/>
                  <a:t>Security relies on the difficulty of solving </a:t>
                </a:r>
                <a:r>
                  <a:rPr lang="en-US" sz="1700" b="1"/>
                  <a:t>noisy polynomial equations</a:t>
                </a:r>
              </a:p>
              <a:p>
                <a:pPr lvl="1">
                  <a:lnSpc>
                    <a:spcPct val="110000"/>
                  </a:lnSpc>
                </a:pPr>
                <a:endParaRPr lang="en-US" sz="1700" b="1"/>
              </a:p>
              <a:p>
                <a:pPr lvl="1">
                  <a:lnSpc>
                    <a:spcPct val="110000"/>
                  </a:lnSpc>
                </a:pPr>
                <a:endParaRPr lang="en-US" sz="1700" b="1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2249487"/>
                <a:ext cx="4459287" cy="3965046"/>
              </a:xfrm>
              <a:prstGeom prst="rect">
                <a:avLst/>
              </a:prstGeom>
              <a:blipFill>
                <a:blip r:embed="rId4"/>
                <a:stretch>
                  <a:fillRect l="-1366" t="-1538" r="-82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ntroduction to Lattice Algorithms and Lattice based Cryptography">
            <a:extLst>
              <a:ext uri="{FF2B5EF4-FFF2-40B4-BE49-F238E27FC236}">
                <a16:creationId xmlns:a16="http://schemas.microsoft.com/office/drawing/2014/main" id="{51873C9D-5739-C3C7-11E5-D95EF3797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506828"/>
            <a:ext cx="5456279" cy="3819394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6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6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7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7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8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971557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of ring-</a:t>
            </a:r>
            <a:r>
              <a:rPr lang="en-US" dirty="0" err="1"/>
              <a:t>lwe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41412" y="2249487"/>
                <a:ext cx="5342515" cy="3541714"/>
              </a:xfrm>
            </p:spPr>
            <p:txBody>
              <a:bodyPr>
                <a:noAutofit/>
              </a:bodyPr>
              <a:lstStyle/>
              <a:p>
                <a:r>
                  <a:rPr lang="en-US" sz="1600" b="1" dirty="0"/>
                  <a:t>Problem</a:t>
                </a:r>
              </a:p>
              <a:p>
                <a:pPr lvl="1"/>
                <a:r>
                  <a:rPr lang="en-US" sz="1600" dirty="0"/>
                  <a:t>polynomial multiplication</a:t>
                </a:r>
              </a:p>
              <a:p>
                <a:pPr lvl="1"/>
                <a:r>
                  <a:rPr lang="en-US" sz="1600" dirty="0" err="1"/>
                  <a:t>Computainal</a:t>
                </a:r>
                <a:r>
                  <a:rPr lang="en-US" sz="1600" dirty="0"/>
                  <a:t> heavy</a:t>
                </a:r>
              </a:p>
              <a:p>
                <a:pPr lvl="1"/>
                <a:r>
                  <a:rPr lang="en-US" sz="1600" dirty="0"/>
                  <a:t>Time complexity: 0(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1600" dirty="0"/>
                      <m:t>)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Runtime increases quadratically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2249487"/>
                <a:ext cx="5342515" cy="3541714"/>
              </a:xfrm>
              <a:blipFill>
                <a:blip r:embed="rId3"/>
                <a:stretch>
                  <a:fillRect l="-1026" t="-120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Delving into Big O Notation: The Foundation of Algorithm Analysis | by  Omkar Bhavare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241" y="2378457"/>
            <a:ext cx="4960716" cy="32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52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Theoretic Transform (NTT)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1293813" y="2401887"/>
                <a:ext cx="4644246" cy="35417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/>
                  <a:t>What is NTT</a:t>
                </a:r>
              </a:p>
              <a:p>
                <a:pPr lvl="1"/>
                <a:r>
                  <a:rPr lang="en-US" sz="1600" b="1" dirty="0"/>
                  <a:t>Number Theoretic Transform (NTT)</a:t>
                </a:r>
                <a:r>
                  <a:rPr lang="en-US" sz="1600" dirty="0"/>
                  <a:t> is an </a:t>
                </a:r>
                <a:r>
                  <a:rPr lang="en-US" sz="1600" b="1" dirty="0"/>
                  <a:t>FFT-like algorithm</a:t>
                </a:r>
                <a:r>
                  <a:rPr lang="en-US" sz="1600" dirty="0"/>
                  <a:t> that works over </a:t>
                </a:r>
                <a:r>
                  <a:rPr lang="en-US" sz="1600" b="1" dirty="0"/>
                  <a:t>finite fields</a:t>
                </a:r>
                <a:r>
                  <a:rPr lang="en-US" sz="1600" dirty="0"/>
                  <a:t>.</a:t>
                </a:r>
              </a:p>
              <a:p>
                <a:pPr lvl="1"/>
                <a:r>
                  <a:rPr lang="en-US" sz="1600" dirty="0"/>
                  <a:t>It enables </a:t>
                </a:r>
                <a:r>
                  <a:rPr lang="en-US" sz="1600" b="1" dirty="0"/>
                  <a:t>fast polynomial multiplication</a:t>
                </a:r>
                <a:r>
                  <a:rPr lang="en-US" sz="1600" dirty="0"/>
                  <a:t>, which is the main operation in Ring-LWE</a:t>
                </a:r>
              </a:p>
              <a:p>
                <a:pPr lvl="1"/>
                <a:r>
                  <a:rPr lang="en-US" sz="1600" dirty="0"/>
                  <a:t>Used in many </a:t>
                </a:r>
                <a:r>
                  <a:rPr lang="en-US" sz="1600" b="1" dirty="0"/>
                  <a:t>post-quantum cryptographic standards</a:t>
                </a:r>
              </a:p>
              <a:p>
                <a:pPr lvl="1"/>
                <a:r>
                  <a:rPr lang="en-US" sz="1600" b="1" dirty="0"/>
                  <a:t>NTT reduces normal Ring-LWE complexity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GB" sz="160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Improves speed </a:t>
                </a:r>
                <a:r>
                  <a:rPr lang="en-US" sz="1600" b="1" dirty="0"/>
                  <a:t>without weakening security</a:t>
                </a:r>
              </a:p>
              <a:p>
                <a:pPr lvl="1"/>
                <a:endParaRPr lang="en-US" sz="1600" dirty="0"/>
              </a:p>
              <a:p>
                <a:pPr lvl="1"/>
                <a:endParaRPr lang="en-US" sz="1600" b="1" dirty="0"/>
              </a:p>
              <a:p>
                <a:pPr lvl="1"/>
                <a:endParaRPr lang="en-US" b="1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813" y="2401887"/>
                <a:ext cx="4644246" cy="3541714"/>
              </a:xfrm>
              <a:prstGeom prst="rect">
                <a:avLst/>
              </a:prstGeom>
              <a:blipFill>
                <a:blip r:embed="rId2"/>
                <a:stretch>
                  <a:fillRect l="-1181" t="-1205" r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Delving into Big O Notation: The Foundation of Algorithm Analysis | by  Omkar Bhavare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241" y="2378457"/>
            <a:ext cx="4960716" cy="32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8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41413" y="2274425"/>
                <a:ext cx="4743998" cy="3541714"/>
              </a:xfrm>
            </p:spPr>
            <p:txBody>
              <a:bodyPr/>
              <a:lstStyle/>
              <a:p>
                <a:r>
                  <a:rPr lang="en-US" sz="1600" dirty="0"/>
                  <a:t>What was implemented</a:t>
                </a:r>
              </a:p>
              <a:p>
                <a:pPr lvl="1"/>
                <a:r>
                  <a:rPr lang="en-US" sz="1600" b="1" dirty="0"/>
                  <a:t>Two variants of Ring-LWE polynomial multiplication</a:t>
                </a:r>
                <a:r>
                  <a:rPr lang="en-US" sz="1600" dirty="0"/>
                  <a:t> in Python:</a:t>
                </a:r>
              </a:p>
              <a:p>
                <a:pPr lvl="2"/>
                <a:r>
                  <a:rPr lang="en-US" sz="1400" dirty="0"/>
                  <a:t>Baseline: normal polynomial multiplication 0(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1400" dirty="0"/>
                      <m:t>)</m:t>
                    </m:r>
                  </m:oMath>
                </a14:m>
                <a:endParaRPr lang="en-US" sz="1400" dirty="0"/>
              </a:p>
              <a:p>
                <a:pPr lvl="2"/>
                <a:r>
                  <a:rPr lang="en-US" sz="1400" dirty="0"/>
                  <a:t>Optimized: NTT-based multiplication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GB" sz="140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/>
                  <a:t>)</a:t>
                </a:r>
              </a:p>
              <a:p>
                <a:pPr lvl="1"/>
                <a:r>
                  <a:rPr lang="en-US" sz="1600" b="1" dirty="0"/>
                  <a:t>Benchmarking</a:t>
                </a:r>
                <a:r>
                  <a:rPr lang="en-US" sz="1600" dirty="0"/>
                  <a:t> the core operation that dominates performance</a:t>
                </a:r>
              </a:p>
              <a:p>
                <a:pPr lvl="1"/>
                <a:r>
                  <a:rPr lang="en-US" sz="1600" b="1" dirty="0"/>
                  <a:t>Focus:</a:t>
                </a:r>
                <a:r>
                  <a:rPr lang="en-US" sz="1600" dirty="0"/>
                  <a:t> performance impact of NTT on realistic polynomial sizes</a:t>
                </a:r>
              </a:p>
              <a:p>
                <a:pPr lvl="1"/>
                <a:endParaRPr lang="en-US" sz="1600" dirty="0"/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2274425"/>
                <a:ext cx="4743998" cy="3541714"/>
              </a:xfrm>
              <a:blipFill>
                <a:blip r:embed="rId2"/>
                <a:stretch>
                  <a:fillRect l="-1157" t="-1205" r="-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>
          <a:xfrm>
            <a:off x="6431079" y="2274425"/>
            <a:ext cx="474399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Implementation Choices</a:t>
            </a:r>
          </a:p>
          <a:p>
            <a:pPr lvl="1"/>
            <a:r>
              <a:rPr lang="en-US" sz="1600" b="1" dirty="0"/>
              <a:t>Language:</a:t>
            </a:r>
            <a:r>
              <a:rPr lang="en-US" sz="1600" dirty="0"/>
              <a:t> Python</a:t>
            </a:r>
          </a:p>
          <a:p>
            <a:pPr lvl="1"/>
            <a:r>
              <a:rPr lang="en-US" sz="1600" b="1" dirty="0"/>
              <a:t>Input:</a:t>
            </a:r>
            <a:r>
              <a:rPr lang="en-US" sz="1600" dirty="0"/>
              <a:t> randomly generated polynomials representing Ring-LWE operands</a:t>
            </a:r>
          </a:p>
          <a:p>
            <a:pPr lvl="1"/>
            <a:r>
              <a:rPr lang="en-US" sz="1600" b="1" dirty="0"/>
              <a:t>Parameters:</a:t>
            </a:r>
            <a:r>
              <a:rPr lang="en-US" sz="1600" dirty="0"/>
              <a:t> identical for both implementations to ensure fair comparison</a:t>
            </a:r>
          </a:p>
          <a:p>
            <a:pPr lvl="1"/>
            <a:r>
              <a:rPr lang="en-US" sz="1600" b="1" dirty="0"/>
              <a:t>Multiple runs</a:t>
            </a:r>
            <a:r>
              <a:rPr lang="en-US" sz="1600" dirty="0"/>
              <a:t> to account for variability</a:t>
            </a:r>
          </a:p>
          <a:p>
            <a:pPr lvl="1"/>
            <a:r>
              <a:rPr lang="en-US" sz="1600" b="1" dirty="0"/>
              <a:t>Polynomial sizes:</a:t>
            </a:r>
            <a:r>
              <a:rPr lang="en-US" sz="1600" dirty="0"/>
              <a:t> scaled to reflect realistic post-quantum security</a:t>
            </a:r>
          </a:p>
          <a:p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811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How it works</a:t>
            </a:r>
          </a:p>
          <a:p>
            <a:pPr lvl="1"/>
            <a:r>
              <a:rPr lang="en-US" sz="1600" dirty="0"/>
              <a:t>Generate random polynomials A, B</a:t>
            </a:r>
          </a:p>
          <a:p>
            <a:pPr lvl="1"/>
            <a:r>
              <a:rPr lang="en-US" sz="1600" dirty="0"/>
              <a:t>Multiply using either:</a:t>
            </a:r>
          </a:p>
          <a:p>
            <a:pPr lvl="2"/>
            <a:r>
              <a:rPr lang="en-US" sz="1600" dirty="0"/>
              <a:t>Normal multiplication</a:t>
            </a:r>
          </a:p>
          <a:p>
            <a:pPr lvl="2"/>
            <a:r>
              <a:rPr lang="en-US" sz="1600" dirty="0"/>
              <a:t>NTT-optimized multiplication</a:t>
            </a:r>
          </a:p>
          <a:p>
            <a:pPr lvl="1"/>
            <a:r>
              <a:rPr lang="en-US" sz="1600" dirty="0"/>
              <a:t>Measure </a:t>
            </a:r>
            <a:r>
              <a:rPr lang="en-US" sz="1600" b="1" dirty="0"/>
              <a:t>execution time</a:t>
            </a:r>
            <a:r>
              <a:rPr lang="en-US" sz="1600" dirty="0"/>
              <a:t> and compare results</a:t>
            </a:r>
          </a:p>
          <a:p>
            <a:pPr lvl="1"/>
            <a:r>
              <a:rPr lang="en-US" sz="1600" dirty="0"/>
              <a:t>Repeat for </a:t>
            </a:r>
            <a:r>
              <a:rPr lang="en-US" sz="1600" b="1" dirty="0"/>
              <a:t>increasing polynomial sizes</a:t>
            </a:r>
          </a:p>
          <a:p>
            <a:pPr lvl="1"/>
            <a:r>
              <a:rPr lang="en-US" sz="1600" dirty="0"/>
              <a:t>Evaluate </a:t>
            </a:r>
            <a:r>
              <a:rPr lang="en-US" sz="1600" b="1" dirty="0"/>
              <a:t>speedup</a:t>
            </a:r>
            <a:r>
              <a:rPr lang="en-US" sz="1600" dirty="0"/>
              <a:t> and memory usage</a:t>
            </a:r>
          </a:p>
        </p:txBody>
      </p:sp>
    </p:spTree>
    <p:extLst>
      <p:ext uri="{BB962C8B-B14F-4D97-AF65-F5344CB8AC3E}">
        <p14:creationId xmlns:p14="http://schemas.microsoft.com/office/powerpoint/2010/main" val="242020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4311737" cy="3541714"/>
          </a:xfrm>
        </p:spPr>
        <p:txBody>
          <a:bodyPr/>
          <a:lstStyle/>
          <a:p>
            <a:r>
              <a:rPr lang="en-US" dirty="0"/>
              <a:t>Higher n = high security, more computation</a:t>
            </a:r>
          </a:p>
          <a:p>
            <a:r>
              <a:rPr lang="en-US" dirty="0"/>
              <a:t>Small n = low security, fast</a:t>
            </a:r>
          </a:p>
          <a:p>
            <a:r>
              <a:rPr lang="en-US" dirty="0"/>
              <a:t>As tests become more secure, the computation becomes slower and slower </a:t>
            </a:r>
          </a:p>
        </p:txBody>
      </p:sp>
      <p:pic>
        <p:nvPicPr>
          <p:cNvPr id="4" name="Picture 3" descr="A group of graphs with numbers&#10;&#10;AI-generated content may be incorrect.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015" y="1763973"/>
            <a:ext cx="6270682" cy="471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Ring-LWE</a:t>
            </a:r>
            <a:r>
              <a:rPr lang="en-US" sz="1600" dirty="0"/>
              <a:t> provides strong </a:t>
            </a:r>
            <a:r>
              <a:rPr lang="en-US" sz="1600" b="1" dirty="0"/>
              <a:t>post-quantum security</a:t>
            </a:r>
            <a:r>
              <a:rPr lang="en-US" sz="1600" dirty="0"/>
              <a:t> for hospital data</a:t>
            </a:r>
          </a:p>
          <a:p>
            <a:r>
              <a:rPr lang="en-US" sz="1600" b="1" dirty="0"/>
              <a:t>Normal implementation</a:t>
            </a:r>
            <a:r>
              <a:rPr lang="en-US" sz="1600" dirty="0"/>
              <a:t> is too slow for large-scale or time-sensitive applications</a:t>
            </a:r>
          </a:p>
          <a:p>
            <a:r>
              <a:rPr lang="en-US" sz="1600" b="1" dirty="0"/>
              <a:t>NTT optimization</a:t>
            </a:r>
            <a:r>
              <a:rPr lang="en-US" sz="1600" dirty="0"/>
              <a:t> significantly improves performance </a:t>
            </a:r>
            <a:r>
              <a:rPr lang="en-US" sz="1600" b="1" dirty="0"/>
              <a:t>without compromising security</a:t>
            </a:r>
          </a:p>
          <a:p>
            <a:r>
              <a:rPr lang="en-US" sz="1600" b="1" dirty="0"/>
              <a:t>NTT-optimized Ring-LWE</a:t>
            </a:r>
            <a:r>
              <a:rPr lang="en-US" sz="1600" dirty="0"/>
              <a:t> is a </a:t>
            </a:r>
            <a:r>
              <a:rPr lang="en-US" sz="1600" b="1" dirty="0"/>
              <a:t>practical candidate</a:t>
            </a:r>
            <a:r>
              <a:rPr lang="en-US" sz="1600" dirty="0"/>
              <a:t> for protecting sensitive medical records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4109" y="4646815"/>
            <a:ext cx="1554480" cy="8312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4411" y="4646815"/>
            <a:ext cx="1554480" cy="8312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03367" y="4739284"/>
            <a:ext cx="1105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Normal Ring-LWE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11" y="4739283"/>
            <a:ext cx="155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NTT-optimized Ring-LWE</a:t>
            </a:r>
          </a:p>
        </p:txBody>
      </p:sp>
      <p:sp>
        <p:nvSpPr>
          <p:cNvPr id="8" name="Oval 7"/>
          <p:cNvSpPr/>
          <p:nvPr/>
        </p:nvSpPr>
        <p:spPr>
          <a:xfrm>
            <a:off x="3752502" y="4559527"/>
            <a:ext cx="1268385" cy="100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402087" y="4557448"/>
            <a:ext cx="1268385" cy="100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55555" y="4828043"/>
            <a:ext cx="661917" cy="36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7131" y="4745944"/>
            <a:ext cx="965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Fast &amp; Secure</a:t>
            </a:r>
          </a:p>
        </p:txBody>
      </p:sp>
      <p:cxnSp>
        <p:nvCxnSpPr>
          <p:cNvPr id="13" name="Straight Arrow Connector 12"/>
          <p:cNvCxnSpPr>
            <a:stCxn id="4" idx="3"/>
            <a:endCxn id="8" idx="2"/>
          </p:cNvCxnSpPr>
          <p:nvPr/>
        </p:nvCxnSpPr>
        <p:spPr>
          <a:xfrm>
            <a:off x="3258589" y="5062452"/>
            <a:ext cx="493913" cy="20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9" idx="2"/>
          </p:cNvCxnSpPr>
          <p:nvPr/>
        </p:nvCxnSpPr>
        <p:spPr>
          <a:xfrm flipV="1">
            <a:off x="7648891" y="5062448"/>
            <a:ext cx="753196" cy="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55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Performance Optimizations</a:t>
            </a:r>
          </a:p>
          <a:p>
            <a:pPr lvl="1"/>
            <a:r>
              <a:rPr lang="en-US" sz="1600" dirty="0"/>
              <a:t>Use </a:t>
            </a:r>
            <a:r>
              <a:rPr lang="en-US" sz="1600" b="1" dirty="0"/>
              <a:t>highly optimized, constant-time NTT libraries</a:t>
            </a:r>
            <a:endParaRPr lang="en-US" sz="1600" dirty="0"/>
          </a:p>
          <a:p>
            <a:r>
              <a:rPr lang="en-US" sz="1600" dirty="0"/>
              <a:t>Hybrid Encryption</a:t>
            </a:r>
          </a:p>
          <a:p>
            <a:pPr lvl="1"/>
            <a:r>
              <a:rPr lang="en-US" sz="1600" dirty="0"/>
              <a:t>PQC for </a:t>
            </a:r>
            <a:r>
              <a:rPr lang="en-US" sz="1600" b="1" dirty="0"/>
              <a:t>key encapsulation</a:t>
            </a:r>
          </a:p>
          <a:p>
            <a:pPr lvl="1"/>
            <a:r>
              <a:rPr lang="en-US" sz="1600" dirty="0"/>
              <a:t>Symmetric encryption for </a:t>
            </a:r>
            <a:r>
              <a:rPr lang="en-US" sz="1600" b="1" dirty="0"/>
              <a:t>large medical files</a:t>
            </a:r>
          </a:p>
          <a:p>
            <a:pPr lvl="1"/>
            <a:r>
              <a:rPr lang="en-US" sz="1600" dirty="0"/>
              <a:t>Balances </a:t>
            </a:r>
            <a:r>
              <a:rPr lang="en-US" sz="1600" b="1" dirty="0"/>
              <a:t>security</a:t>
            </a:r>
            <a:r>
              <a:rPr lang="en-US" sz="1600" dirty="0"/>
              <a:t> and </a:t>
            </a:r>
            <a:r>
              <a:rPr lang="en-US" sz="1600" b="1" dirty="0"/>
              <a:t>efficiency</a:t>
            </a:r>
            <a:endParaRPr lang="en-US" sz="1600" dirty="0"/>
          </a:p>
          <a:p>
            <a:pPr lvl="1"/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70900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831273"/>
            <a:ext cx="9905999" cy="495992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8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39449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0</TotalTime>
  <Words>404</Words>
  <Application>Microsoft Office PowerPoint</Application>
  <PresentationFormat>Widescreen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Cambria Math</vt:lpstr>
      <vt:lpstr>Tw Cen MT</vt:lpstr>
      <vt:lpstr>Circuit</vt:lpstr>
      <vt:lpstr>Securing Medical Data Storage with PQC</vt:lpstr>
      <vt:lpstr>Project Context</vt:lpstr>
      <vt:lpstr>Ring-lwe algorithm </vt:lpstr>
      <vt:lpstr>Bottleneck of ring-lwe</vt:lpstr>
      <vt:lpstr>Number Theoretic Transform (NTT)</vt:lpstr>
      <vt:lpstr>Implementation</vt:lpstr>
      <vt:lpstr>Implementation </vt:lpstr>
      <vt:lpstr>Experimental Results</vt:lpstr>
      <vt:lpstr>Conclusion</vt:lpstr>
      <vt:lpstr>Future improvements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Medical Data Storage with PQC</dc:title>
  <dc:creator>Stanev,Stefan-Nikola S.G.</dc:creator>
  <cp:lastModifiedBy>Klijnman,Youp Y.F.</cp:lastModifiedBy>
  <cp:revision>15</cp:revision>
  <dcterms:created xsi:type="dcterms:W3CDTF">2026-01-12T18:56:46Z</dcterms:created>
  <dcterms:modified xsi:type="dcterms:W3CDTF">2026-01-19T08:41:24Z</dcterms:modified>
</cp:coreProperties>
</file>